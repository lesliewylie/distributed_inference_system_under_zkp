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27"/>
              </a:spcAft>
              <a:defRPr sz="3600" b="1">
                <a:solidFill>
                  <a:srgbClr val="FFFFFF"/>
                </a:solidFill>
              </a:defRPr>
            </a:pPr>
            <a:r>
              <a:t>基于零知识证明的分布式推理可验证性研究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52"/>
              </a:spcAft>
              <a:defRPr sz="2400" b="0">
                <a:solidFill>
                  <a:srgbClr val="BBDEFB"/>
                </a:solidFill>
              </a:defRPr>
            </a:pPr>
            <a:r>
              <a:t>中期答辩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3891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68"/>
              </a:spcAft>
              <a:defRPr sz="1600" b="0">
                <a:solidFill>
                  <a:srgbClr val="FFFFFF"/>
                </a:solidFill>
              </a:defRPr>
            </a:pPr>
            <a:r>
              <a:t>学生：武垚乐</a:t>
            </a:r>
          </a:p>
          <a:p>
            <a:pPr algn="ctr">
              <a:spcAft>
                <a:spcPts val="768"/>
              </a:spcAft>
              <a:defRPr sz="1600" b="0">
                <a:solidFill>
                  <a:srgbClr val="FFFFFF"/>
                </a:solidFill>
              </a:defRPr>
            </a:pPr>
            <a:r>
              <a:t>指导教师：张宇超</a:t>
            </a:r>
          </a:p>
          <a:p>
            <a:pPr algn="ctr">
              <a:spcAft>
                <a:spcPts val="768"/>
              </a:spcAft>
              <a:defRPr sz="1600" b="0">
                <a:solidFill>
                  <a:srgbClr val="FFFFFF"/>
                </a:solidFill>
              </a:defRPr>
            </a:pPr>
            <a:r>
              <a:t>学院：计算机学院</a:t>
            </a:r>
          </a:p>
          <a:p>
            <a:pPr algn="ctr">
              <a:spcAft>
                <a:spcPts val="768"/>
              </a:spcAft>
              <a:defRPr sz="1600" b="0">
                <a:solidFill>
                  <a:srgbClr val="FFFFFF"/>
                </a:solidFill>
              </a:defRPr>
            </a:pPr>
            <a:r>
              <a:t>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课题背景与研究目标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3A5C"/>
                </a:solidFill>
              </a:defRPr>
            </a:pPr>
            <a:r>
              <a:t>研究背景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大模型推理开销增长快，单节点难以满足时延与吞吐需求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分布式推理是自然选择，但多节点协同引入信任问题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需要一种「不泄露细节即可验证计算正确」的机制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零知识证明 (ZKP) 恰好满足这一需求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77DA1"/>
                </a:solidFill>
              </a:defRPr>
            </a:pPr>
            <a:r>
              <a:t>任务书三项目标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构建分布式推理原型系统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引入零知识证明验证推理正确性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设计低开销优化策略降低验证成本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3A5C"/>
                </a:solidFill>
              </a:defRPr>
            </a:pPr>
            <a:r>
              <a:t>课题围绕"分布式推理 + 可验证性 + 低开销"三条主线展开。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当前项目进展概况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E7D32"/>
                </a:solidFill>
              </a:defRPr>
            </a:pPr>
            <a:r>
              <a:t>已完成 ✅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Master + Worker 分布式原型已跑通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2/4/8 切片配置均可正常运行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实现 proof-bound output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完成 6 组实验并生成图表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65C00"/>
                </a:solidFill>
              </a:defRPr>
            </a:pPr>
            <a:r>
              <a:t>正在完善 🔧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统一实验管线与指标口径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收紧系统边界表述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整理答辩与论文材料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77DA1"/>
                </a:solidFill>
              </a:defRPr>
            </a:pPr>
            <a:r>
              <a:t>下一步 📋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用主系统重跑关键实验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补充缺失的攻击场景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推进论文写作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3A5C"/>
                </a:solidFill>
              </a:defRPr>
            </a:pPr>
            <a:r>
              <a:t>原型已完成，当前重点是实验收口与论文推进。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系统总体架构设计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Master：统一调度、汇总结果、执行多层验证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Worker：局部子模型推理 + 按角色生成证明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proof 节点 → /infer（完整 ZKP 证明）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light 节点 → /infer_light（推理+哈希）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随机挑战 → /re_prove（概率性抽查）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2"/>
              </a:spcAft>
              <a:defRPr sz="1400" b="0">
                <a:solidFill>
                  <a:srgbClr val="1B3A5C"/>
                </a:solidFill>
              </a:defRPr>
            </a:pPr>
            <a:r>
              <a:t>Input → Master (调度+校验)</a:t>
            </a:r>
          </a:p>
          <a:p>
            <a:pPr algn="l">
              <a:spcAft>
                <a:spcPts val="672"/>
              </a:spcAft>
              <a:defRPr sz="1400" b="0">
                <a:solidFill>
                  <a:srgbClr val="1B3A5C"/>
                </a:solidFill>
              </a:defRPr>
            </a:pPr>
            <a:r>
              <a:t>  ├── Worker 1 (/infer) → Slice 1</a:t>
            </a:r>
          </a:p>
          <a:p>
            <a:pPr algn="l">
              <a:spcAft>
                <a:spcPts val="672"/>
              </a:spcAft>
              <a:defRPr sz="1400" b="0">
                <a:solidFill>
                  <a:srgbClr val="1B3A5C"/>
                </a:solidFill>
              </a:defRPr>
            </a:pPr>
            <a:r>
              <a:t>  ├── Worker 2 (/infer_light) → Slice 2</a:t>
            </a:r>
          </a:p>
          <a:p>
            <a:pPr algn="l">
              <a:spcAft>
                <a:spcPts val="672"/>
              </a:spcAft>
              <a:defRPr sz="1400" b="0">
                <a:solidFill>
                  <a:srgbClr val="1B3A5C"/>
                </a:solidFill>
              </a:defRPr>
            </a:pPr>
            <a:r>
              <a:t>  └── Worker N (/infer) → Slice N</a:t>
            </a:r>
          </a:p>
          <a:p>
            <a:pPr algn="l">
              <a:spcAft>
                <a:spcPts val="672"/>
              </a:spcAft>
              <a:defRPr sz="1400" b="0">
                <a:solidFill>
                  <a:srgbClr val="1B3A5C"/>
                </a:solidFill>
              </a:defRPr>
            </a:pPr>
          </a:p>
          <a:p>
            <a:pPr algn="l">
              <a:spcAft>
                <a:spcPts val="672"/>
              </a:spcAft>
              <a:defRPr sz="1400" b="0">
                <a:solidFill>
                  <a:srgbClr val="1B3A5C"/>
                </a:solidFill>
              </a:defRPr>
            </a:pPr>
            <a:r>
              <a:t>校验路径:</a:t>
            </a:r>
          </a:p>
          <a:p>
            <a:pPr algn="l">
              <a:spcAft>
                <a:spcPts val="672"/>
              </a:spcAft>
              <a:defRPr sz="1400" b="0">
                <a:solidFill>
                  <a:srgbClr val="1B3A5C"/>
                </a:solidFill>
              </a:defRPr>
            </a:pPr>
            <a:r>
              <a:t>  L1: SHA-256 哈希校验</a:t>
            </a:r>
          </a:p>
          <a:p>
            <a:pPr algn="l">
              <a:spcAft>
                <a:spcPts val="672"/>
              </a:spcAft>
              <a:defRPr sz="1400" b="0">
                <a:solidFill>
                  <a:srgbClr val="1B3A5C"/>
                </a:solidFill>
              </a:defRPr>
            </a:pPr>
            <a:r>
              <a:t>  L2: EZKL proof + proof-bound output</a:t>
            </a:r>
          </a:p>
          <a:p>
            <a:pPr algn="l">
              <a:spcAft>
                <a:spcPts val="672"/>
              </a:spcAft>
              <a:defRPr sz="1400" b="0">
                <a:solidFill>
                  <a:srgbClr val="1B3A5C"/>
                </a:solidFill>
              </a:defRPr>
            </a:pPr>
            <a:r>
              <a:t>  L3: 跨节点哈希链</a:t>
            </a:r>
          </a:p>
          <a:p>
            <a:pPr algn="l">
              <a:spcAft>
                <a:spcPts val="672"/>
              </a:spcAft>
              <a:defRPr sz="1400" b="0">
                <a:solidFill>
                  <a:srgbClr val="1B3A5C"/>
                </a:solidFill>
              </a:defRPr>
            </a:pPr>
            <a:r>
              <a:t>  Challenge: /re_prove 随机挑战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3A5C"/>
                </a:solidFill>
              </a:defRPr>
            </a:pPr>
            <a:r>
              <a:t>采用 Master-Worker 架构，将推理流与验证流分层解耦。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分层可验证机制设计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3A5C"/>
                </a:solidFill>
              </a:defRPr>
            </a:pPr>
            <a:r>
              <a:t>L1：外部完整性检查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SHA-256 哈希校验输入/输出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开销极低，快速发现非恶意故障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3A5C"/>
                </a:solidFill>
              </a:defRPr>
            </a:pPr>
            <a:r>
              <a:t>L2：零知识证明验证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Halo2 电路中生成 EZKL 证明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Master 独立验证 proof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proof-bound output：输出从 proof 公开实例提取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3A5C"/>
                </a:solidFill>
              </a:defRPr>
            </a:pPr>
            <a:r>
              <a:t>L3：跨节点哈希链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前一节点 hash_out == 后一节点 hash_in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检测链路传输异常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3A5C"/>
                </a:solidFill>
              </a:defRPr>
            </a:pPr>
            <a:r>
              <a:t>随机挑战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对 light 节点发起 /re_prove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提供概率性威慑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3A5C"/>
                </a:solidFill>
              </a:defRPr>
            </a:pPr>
            <a:r>
              <a:t>分层验证：proof 节点提供密码学保证，light 节点提供轻量完整性检查。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模块划分与当前实现情况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46304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master.py / worker.py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调度、推理、验证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utils.py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EZKL 与哈希工具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run_stage2.py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主系统验证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run_*experiments.py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性能与安全实验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test_core_semantics.py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18 项回归测试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888888"/>
                </a:solidFill>
              </a:defRPr>
            </a:pPr>
            <a:r>
              <a:t>• 主系统包含完整三层校验、随机挑战与 proof-bound output</a:t>
            </a:r>
          </a:p>
          <a:p>
            <a:pPr>
              <a:spcAft>
                <a:spcPts val="500"/>
              </a:spcAft>
              <a:defRPr sz="1400">
                <a:solidFill>
                  <a:srgbClr val="888888"/>
                </a:solidFill>
              </a:defRPr>
            </a:pPr>
            <a:r>
              <a:t>• 部分实验脚本为简化评估管线，用于性能趋势分析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3A5C"/>
                </a:solidFill>
              </a:defRPr>
            </a:pPr>
            <a:r>
              <a:t>代码模块体系完整，具备支撑后续实验与论文写作的基础。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主系统运行情况与阶段性证据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2/4/8 切片均成功完成端到端推理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证明生成占时延约 85%，是主要瓶颈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篡改被 proof-bound 机制在源头替换</a:t>
            </a:r>
          </a:p>
        </p:txBody>
      </p:sp>
      <p:pic>
        <p:nvPicPr>
          <p:cNvPr id="4" name="Picture 3" descr="p07_main_system_latency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5682275" cy="4389120"/>
          </a:xfrm>
          <a:prstGeom prst="rect">
            <a:avLst/>
          </a:prstGeom>
        </p:spPr>
      </p:pic>
      <p:pic>
        <p:nvPicPr>
          <p:cNvPr id="5" name="Picture 4" descr="p07_side_proof_bound_prev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114800"/>
            <a:ext cx="2965774" cy="2286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3A5C"/>
                </a:solidFill>
              </a:defRPr>
            </a:pPr>
            <a:r>
              <a:t>系统在多种切片配置下均可稳定运行，proof-bound 机制有效预防响应层篡改。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选择性验证的低开销效果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verify_ratio：用户设定的期望验证比例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actual_proof_fraction：edge-cover 调整后的实际覆盖率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两者不一定相等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端到端开销降低约 36%~42%</a:t>
            </a:r>
          </a:p>
        </p:txBody>
      </p:sp>
      <p:pic>
        <p:nvPicPr>
          <p:cNvPr id="4" name="Picture 3" descr="p08_main_selective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88720"/>
            <a:ext cx="12314486" cy="3840480"/>
          </a:xfrm>
          <a:prstGeom prst="rect">
            <a:avLst/>
          </a:prstGeom>
        </p:spPr>
      </p:pic>
      <p:pic>
        <p:nvPicPr>
          <p:cNvPr id="5" name="Picture 4" descr="p08_side_cost_red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3323813" cy="1828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3A5C"/>
                </a:solidFill>
              </a:defRPr>
            </a:pPr>
            <a:r>
              <a:t>选择性验证在保持边覆盖约束的前提下，端到端开销降低约 36%~42%。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攻击检测实验结果</a:t>
            </a:r>
          </a:p>
        </p:txBody>
      </p:sp>
      <p:pic>
        <p:nvPicPr>
          <p:cNvPr id="3" name="Picture 2" descr="p09_main_attack_hand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88720"/>
            <a:ext cx="5500479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攻击类型：响应层篡改（计算后篡改返回值）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四种变体：tamper / skip / random / replay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恶意节点位于 proof 节点（首尾必选）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⚠ 结论仅在当前攻击模型下成立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⚠ 不应泛化为「检测所有恶意行为」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3A5C"/>
                </a:solidFill>
              </a:defRPr>
            </a:pPr>
            <a:r>
              <a:t>在当前攻击模型下，四类响应层篡改均被 proof-bound 机制成功预防。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不同可见性模式的开销对比</a:t>
            </a:r>
          </a:p>
        </p:txBody>
      </p:sp>
      <p:pic>
        <p:nvPicPr>
          <p:cNvPr id="3" name="Picture 2" descr="p10_main_visibility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433310" cy="3931920"/>
          </a:xfrm>
          <a:prstGeom prst="rect">
            <a:avLst/>
          </a:prstGeom>
        </p:spPr>
      </p:pic>
      <p:pic>
        <p:nvPicPr>
          <p:cNvPr id="4" name="Picture 3" descr="p10_side_visibility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8430449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hashed 模式约 1.6× 时间开销（Poseidon 哈希电路约束）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private 与 all_public 基本持平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hashed 的 proof 大小增加约 18%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3A5C"/>
                </a:solidFill>
              </a:defRPr>
            </a:pPr>
            <a:r>
              <a:t>三种可见性模式的开销差异已可定量比较，为隐私-性能权衡提供数据支撑。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当前存在的问题与系统边界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65C00"/>
                </a:solidFill>
              </a:defRPr>
            </a:pPr>
            <a:r>
              <a:t>当前待解决问题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部分实验使用简化管线，尚未与主系统完全统一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verify_ratio 与 actual_proof_fraction 需明确区分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缺少 light 节点被攻击的实验数据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模型规模较小（480 参数 FC），外部效度有限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E65C00"/>
                </a:solidFill>
              </a:defRPr>
            </a:pPr>
            <a:r>
              <a:t>系统边界（需诚实面对）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Master 为可信假设，被攻破则全线失效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light 节点非强密码学约束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跨节点中间数据为明文传输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当前为单机多进程模拟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攻击模型仅覆盖响应层篡改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3A5C"/>
                </a:solidFill>
              </a:defRPr>
            </a:pPr>
            <a:r>
              <a:t>原型已可运行，但需继续收紧实验口径并诚实界定安全边界。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下一步工作计划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E7D32"/>
                </a:solidFill>
              </a:defRPr>
            </a:pPr>
            <a:r>
              <a:t>近期（1-2 周）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用 Master 完整逻辑重跑关键实验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补充 light 节点被攻击的场景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统一 actual_proof_fraction 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3716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77DA1"/>
                </a:solidFill>
              </a:defRPr>
            </a:pPr>
            <a:r>
              <a:t>中期后（2-4 周）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收紧论文措辞与边界说明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完善性能评估与安全性分析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视情况补充更大模型实验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3A5C"/>
                </a:solidFill>
              </a:defRPr>
            </a:pPr>
            <a:r>
              <a:t>最终目标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形成完整实验矩阵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完成毕业论文</a:t>
            </a:r>
          </a:p>
          <a:p>
            <a:pPr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• 完成终期答辩材料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3A5C"/>
                </a:solidFill>
              </a:defRPr>
            </a:pPr>
            <a:r>
              <a:t>后续核心任务：统一实验口径、补齐关键结果、推进论文收口。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36"/>
              </a:spcAft>
              <a:defRPr sz="3200" b="1">
                <a:solidFill>
                  <a:srgbClr val="FFFFFF"/>
                </a:solidFill>
              </a:defRPr>
            </a:pPr>
            <a:r>
              <a:t>阶段性总结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16"/>
              </a:spcAft>
              <a:defRPr sz="1700" b="0">
                <a:solidFill>
                  <a:srgbClr val="FFFFFF"/>
                </a:solidFill>
              </a:defRPr>
            </a:pPr>
            <a:r>
              <a:t>✅ 分布式推理原型系统（Master + Worker，2/4/8 切片）</a:t>
            </a:r>
          </a:p>
          <a:p>
            <a:pPr algn="l">
              <a:spcAft>
                <a:spcPts val="816"/>
              </a:spcAft>
              <a:defRPr sz="1700" b="0">
                <a:solidFill>
                  <a:srgbClr val="FFFFFF"/>
                </a:solidFill>
              </a:defRPr>
            </a:pPr>
            <a:r>
              <a:t>✅ EZKL (Halo2/PLONK/KZG) 零知识证明接入与验证</a:t>
            </a:r>
          </a:p>
          <a:p>
            <a:pPr algn="l">
              <a:spcAft>
                <a:spcPts val="816"/>
              </a:spcAft>
              <a:defRPr sz="1700" b="0">
                <a:solidFill>
                  <a:srgbClr val="FFFFFF"/>
                </a:solidFill>
              </a:defRPr>
            </a:pPr>
            <a:r>
              <a:t>✅ proof-bound output（proof 与推理输出数学绑定）</a:t>
            </a:r>
          </a:p>
          <a:p>
            <a:pPr algn="l">
              <a:spcAft>
                <a:spcPts val="816"/>
              </a:spcAft>
              <a:defRPr sz="1700" b="0">
                <a:solidFill>
                  <a:srgbClr val="FFFFFF"/>
                </a:solidFill>
              </a:defRPr>
            </a:pPr>
            <a:r>
              <a:t>✅ 6 组阶段性实验（性能、选择性验证、攻击、可见性等）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8"/>
              </a:spcAft>
              <a:defRPr sz="1600" b="0">
                <a:solidFill>
                  <a:srgbClr val="BBDEFB"/>
                </a:solidFill>
              </a:defRPr>
            </a:pPr>
            <a:r>
              <a:t>→ 统一实验管线与指标口径</a:t>
            </a:r>
          </a:p>
          <a:p>
            <a:pPr algn="l">
              <a:spcAft>
                <a:spcPts val="768"/>
              </a:spcAft>
              <a:defRPr sz="1600" b="0">
                <a:solidFill>
                  <a:srgbClr val="BBDEFB"/>
                </a:solidFill>
              </a:defRPr>
            </a:pPr>
            <a:r>
              <a:t>→ 收紧系统边界与论文表述</a:t>
            </a:r>
          </a:p>
          <a:p>
            <a:pPr algn="l">
              <a:spcAft>
                <a:spcPts val="768"/>
              </a:spcAft>
              <a:defRPr sz="1600" b="0">
                <a:solidFill>
                  <a:srgbClr val="BBDEFB"/>
                </a:solidFill>
              </a:defRPr>
            </a:pPr>
            <a:r>
              <a:t>→ 完成毕业论文与终期答辩材料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63"/>
              </a:spcAft>
              <a:defRPr sz="1800" b="1">
                <a:solidFill>
                  <a:srgbClr val="FFFFFF"/>
                </a:solidFill>
              </a:defRPr>
            </a:pPr>
            <a:r>
              <a:t>课题主线已落地为可运行原型，后续重点是实验收口与论文推进。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[备份] 切片逻辑一致性验证 (P4)</a:t>
            </a:r>
          </a:p>
        </p:txBody>
      </p:sp>
      <p:pic>
        <p:nvPicPr>
          <p:cNvPr id="3" name="Picture 2" descr="bkA_slice_logic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889896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24"/>
              </a:spcAft>
              <a:defRPr sz="1300" b="0">
                <a:solidFill>
                  <a:srgbClr val="888888"/>
                </a:solidFill>
              </a:defRPr>
            </a:pPr>
            <a:r>
              <a:t>注：仅验证 PyTorch 切片一致性，非 ONNXRuntime/EZKL 量化路径保真度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[备份] 三类完整性检查机制对比 (P6)</a:t>
            </a:r>
          </a:p>
        </p:txBody>
      </p:sp>
      <p:pic>
        <p:nvPicPr>
          <p:cNvPr id="3" name="Picture 2" descr="bkB_integrity_mechanism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5422016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24"/>
              </a:spcAft>
              <a:defRPr sz="1300" b="0">
                <a:solidFill>
                  <a:srgbClr val="888888"/>
                </a:solidFill>
              </a:defRPr>
            </a:pPr>
            <a:r>
              <a:t>仅展示正常模式下三种机制的 proof 时间对比，不应表述为「完整 ZK linking 实证」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[备份] 补充实验图表</a:t>
            </a:r>
          </a:p>
        </p:txBody>
      </p:sp>
      <p:pic>
        <p:nvPicPr>
          <p:cNvPr id="3" name="Picture 2" descr="bk_slice8_per_slice_proof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488621" cy="4114800"/>
          </a:xfrm>
          <a:prstGeom prst="rect">
            <a:avLst/>
          </a:prstGeom>
        </p:spPr>
      </p:pic>
      <p:pic>
        <p:nvPicPr>
          <p:cNvPr id="4" name="Picture 3" descr="bk_system_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397952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76"/>
              </a:spcAft>
              <a:defRPr sz="1200" b="0">
                <a:solidFill>
                  <a:srgbClr val="888888"/>
                </a:solidFill>
              </a:defRPr>
            </a:pPr>
            <a:r>
              <a:t>8 切片逐 slice proof/verify 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76"/>
              </a:spcAft>
              <a:defRPr sz="1200" b="0">
                <a:solidFill>
                  <a:srgbClr val="888888"/>
                </a:solidFill>
              </a:defRPr>
            </a:pPr>
            <a:r>
              <a:t>吞吐量随切片数变化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12"/>
              </a:spcAft>
              <a:defRPr sz="4400" b="1">
                <a:solidFill>
                  <a:srgbClr val="FFFFFF"/>
                </a:solidFill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60"/>
              </a:spcAft>
              <a:defRPr sz="2000" b="0">
                <a:solidFill>
                  <a:srgbClr val="BBDEFB"/>
                </a:solidFill>
              </a:defRPr>
            </a:pPr>
            <a:r>
              <a:t>THANK YOU FOR WATCHING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68"/>
              </a:spcAft>
              <a:defRPr sz="1600" b="0">
                <a:solidFill>
                  <a:srgbClr val="FFFFFF"/>
                </a:solidFill>
              </a:defRPr>
            </a:pPr>
            <a:r>
              <a:t>答辩人：武垚乐    |    2026 年 3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